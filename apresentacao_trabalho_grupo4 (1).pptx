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6858000" cx="12192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h26baa7f5552c2df1_1_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h26baa7f5552c2df1_1_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h26baa7f5552c2df1_1_4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h26baa7f5552c2df1_1_4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h28f36babb90db686_19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h28f36babb90db686_19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h26baa7f5552c2df1_1_1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h26baa7f5552c2df1_1_1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h26baa7f5552c2df1_1_2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h26baa7f5552c2df1_1_2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h26baa7f5552c2df1_1_2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h26baa7f5552c2df1_1_2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h26baa7f5552c2df1_1_3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h26baa7f5552c2df1_1_3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h26baa7f5552c2df1_1_3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h26baa7f5552c2df1_1_3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h2983596d59db94df_1_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h2983596d59db94df_1_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h6513fc7ef0f1072a_0_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h6513fc7ef0f1072a_0_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h6f5515f270d2b565_0_1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h6f5515f270d2b565_0_1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h2357cda9f9a75faa_0_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h2357cda9f9a75faa_0_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h78ae1453fca90bfd_0_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h78ae1453fca90bfd_0_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h2357cda9f9a75faa_0_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h2357cda9f9a75faa_0_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/>
          <p:nvPr>
            <p:ph idx="1"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7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/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p9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0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3" type="body"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p10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2" type="body"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" name="Google Shape;74;p11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/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" name="Google Shape;83;p12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" type="body"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2" type="body"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3" type="body"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4" type="body"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3"/>
          <p:cNvSpPr txBox="1"/>
          <p:nvPr>
            <p:ph idx="5" type="body"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6" type="body"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3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3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13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p1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Google Shape;9;p1"/>
          <p:cNvSpPr txBox="1"/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" name="Google Shape;10;p1"/>
          <p:cNvSpPr txBox="1"/>
          <p:nvPr>
            <p:ph idx="1"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20.png"/><Relationship Id="rId5" Type="http://schemas.openxmlformats.org/officeDocument/2006/relationships/image" Target="../media/image25.png"/><Relationship Id="rId6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2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42A4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0" y="0"/>
            <a:ext cx="12191400" cy="13680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914400" y="1097280"/>
            <a:ext cx="4388760" cy="411120"/>
          </a:xfrm>
          <a:prstGeom prst="roundRect">
            <a:avLst>
              <a:gd fmla="val 16667" name="adj"/>
            </a:avLst>
          </a:prstGeom>
          <a:solidFill>
            <a:srgbClr val="1E3A66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SENAC • PÓS-GRADUAÇÃO EM DATA SCIENCE E IA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914400" y="1691640"/>
            <a:ext cx="1033236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Anatomia de uma Eleição Federal</a:t>
            </a:r>
            <a:endParaRPr b="0" i="0" sz="3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DBFE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BFDBFE"/>
                </a:solidFill>
                <a:latin typeface="Calibri"/>
                <a:ea typeface="Calibri"/>
                <a:cs typeface="Calibri"/>
                <a:sym typeface="Calibri"/>
              </a:rPr>
              <a:t>O que os dados do TSE revelam sobre patrimônio, poder e o impacto das cotas no Nordeste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956160" y="3840480"/>
            <a:ext cx="10248480" cy="272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Estudo Descritivo e Não Supervisionado: Análise Exploratória • Bisecting K-Means • Regras de Associação • Detecção de Anomalias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914400" y="4480560"/>
            <a:ext cx="10332360" cy="1645560"/>
          </a:xfrm>
          <a:prstGeom prst="roundRect">
            <a:avLst>
              <a:gd fmla="val 16667" name="adj"/>
            </a:avLst>
          </a:prstGeom>
          <a:solidFill>
            <a:srgbClr val="0F2039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365750" spcFirstLastPara="1" rIns="90000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PROJETO APLICADO DE MINERAÇÃO DE DADOS — GRUPO 4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Integrantes: Tiago Gandra • Marcos Junqueira • Gabrielle • Jhonatan</a:t>
            </a:r>
            <a:endParaRPr b="0" i="0" sz="13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Candidatos a Deputado Federal nos 9 Estados do Nordeste (Eleições 2026)</a:t>
            </a:r>
            <a:endParaRPr b="0" i="0" sz="11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700945" y="192095"/>
            <a:ext cx="10789500" cy="7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A4A"/>
              </a:buClr>
              <a:buSzPts val="2100"/>
              <a:buFont typeface="Calibri"/>
              <a:buNone/>
            </a:pPr>
            <a:r>
              <a:rPr b="1" lang="en-US" sz="2100">
                <a:solidFill>
                  <a:srgbClr val="142A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2100" u="none" cap="none" strike="noStrike">
                <a:solidFill>
                  <a:srgbClr val="142A4A"/>
                </a:solidFill>
                <a:latin typeface="Calibri"/>
                <a:ea typeface="Calibri"/>
                <a:cs typeface="Calibri"/>
                <a:sym typeface="Calibri"/>
              </a:rPr>
              <a:t>O Cenário da Disputa: Quem Busca Representar o Nordeste em Brasília?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731524" y="1280150"/>
            <a:ext cx="4305900" cy="5028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320025" spcFirstLastPara="1" rIns="320025" wrap="square" tIns="320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2A4A"/>
                </a:solidFill>
                <a:latin typeface="Calibri"/>
                <a:ea typeface="Calibri"/>
                <a:cs typeface="Calibri"/>
                <a:sym typeface="Calibri"/>
              </a:rPr>
              <a:t>A Pergunta Central de Negócio</a:t>
            </a:r>
            <a:br>
              <a:rPr b="0" i="0" lang="en-US" sz="1300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Em uma disputa pelas vagas de Deputado Federal, os concorrentes partem de condições de disputa homogêneas ou existem abismos estruturais de recursos pré-determinando a viabilidade eleitoral?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142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2A4A"/>
                </a:solidFill>
                <a:latin typeface="Calibri"/>
                <a:ea typeface="Calibri"/>
                <a:cs typeface="Calibri"/>
                <a:sym typeface="Calibri"/>
              </a:rPr>
              <a:t>A População sob Observação</a:t>
            </a:r>
            <a:br>
              <a:rPr b="0" i="0" lang="en-US" sz="1300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 universo completo de 2.189 candidatos distribuídos pelos 9 estados do Nordeste — uma região marcada por grande densidade populacional e fortes clivagens socioeconômicas.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142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2A4A"/>
                </a:solidFill>
                <a:latin typeface="Calibri"/>
                <a:ea typeface="Calibri"/>
                <a:cs typeface="Calibri"/>
                <a:sym typeface="Calibri"/>
              </a:rPr>
              <a:t>A Integração Tridimensional dos Dados</a:t>
            </a:r>
            <a:br>
              <a:rPr b="0" i="0" lang="en-US" sz="1300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Cruzamos três dimensões da vida pública registradas no TSE: quem o candidato é (perfil cadastral), quanto ele possui acumulado (declaração de bens) e quanta energia financeira ele colocou em movimento (prestação de contas).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142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2A4A"/>
                </a:solidFill>
                <a:latin typeface="Calibri"/>
                <a:ea typeface="Calibri"/>
                <a:cs typeface="Calibri"/>
                <a:sym typeface="Calibri"/>
              </a:rPr>
              <a:t>A Abordagem por Descoberta</a:t>
            </a:r>
            <a:br>
              <a:rPr b="0" i="0" lang="en-US" sz="1300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Como o TSE não rotula candidatos por categorias, utilizamos Aprendizado Não Supervisionado para que os padrões latentes emergissem diretamente da geometria das variáveis.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" name="Google Shape;113;p15" title="01_candidatos_por_uf_preparad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9650" y="1662850"/>
            <a:ext cx="6897500" cy="3404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/>
          <p:nvPr/>
        </p:nvSpPr>
        <p:spPr>
          <a:xfrm>
            <a:off x="0" y="0"/>
            <a:ext cx="12191400" cy="68577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6"/>
          <p:cNvSpPr/>
          <p:nvPr/>
        </p:nvSpPr>
        <p:spPr>
          <a:xfrm>
            <a:off x="0" y="0"/>
            <a:ext cx="12191400" cy="726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6"/>
          <p:cNvSpPr/>
          <p:nvPr/>
        </p:nvSpPr>
        <p:spPr>
          <a:xfrm>
            <a:off x="731520" y="502920"/>
            <a:ext cx="10789500" cy="7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A4A"/>
              </a:buClr>
              <a:buSzPts val="2100"/>
              <a:buFont typeface="Calibri"/>
              <a:buNone/>
            </a:pPr>
            <a:r>
              <a:rPr b="1" lang="en-US" sz="2100">
                <a:solidFill>
                  <a:srgbClr val="142A4A"/>
                </a:solidFill>
                <a:latin typeface="Calibri"/>
                <a:ea typeface="Calibri"/>
                <a:cs typeface="Calibri"/>
                <a:sym typeface="Calibri"/>
              </a:rPr>
              <a:t>Analise descritiva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439325" y="559738"/>
            <a:ext cx="4489800" cy="6236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45000" lIns="320025" spcFirstLastPara="1" rIns="320025" wrap="square" tIns="3200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Idade:</a:t>
            </a:r>
            <a:r>
              <a:rPr lang="en-US" sz="1100">
                <a:solidFill>
                  <a:schemeClr val="dk1"/>
                </a:solidFill>
              </a:rPr>
              <a:t> Concentração na maturidade profissional (média/mediana de 48 anos), com distribuição equilibrada e sem necessidade de ajustes matemáticos.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Anos de Estudo:</a:t>
            </a:r>
            <a:r>
              <a:rPr lang="en-US" sz="1100">
                <a:solidFill>
                  <a:schemeClr val="dk1"/>
                </a:solidFill>
              </a:rPr>
              <a:t> Eleito nível de escolaridade (58% com ensino superior), evidenciando alta barreira de entrada e assimetria em relação à população geral.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Total de Bens:</a:t>
            </a:r>
            <a:r>
              <a:rPr lang="en-US" sz="1100">
                <a:solidFill>
                  <a:schemeClr val="dk1"/>
                </a:solidFill>
              </a:rPr>
              <a:t> Discrepância patrimonial extrema, marcada por alta concentração de riqueza e 43% de candidatos declarando zero bens.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Total de Despesas Contratadas:</a:t>
            </a:r>
            <a:r>
              <a:rPr lang="en-US" sz="1100">
                <a:solidFill>
                  <a:schemeClr val="dk1"/>
                </a:solidFill>
              </a:rPr>
              <a:t> Forte polarização financeira na campanha, dividida entre candidaturas sem recursos (26% zeradas) e campanhas altamente financiadas por fundos partidários.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Tratamento dos Dados &amp; Insight Bivariado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Tratamento Logarítmico:</a:t>
            </a:r>
            <a:r>
              <a:rPr lang="en-US" sz="1100">
                <a:solidFill>
                  <a:schemeClr val="dk1"/>
                </a:solidFill>
              </a:rPr>
              <a:t> Aplicação da função log(1+x) para corrigir a assimetria e evitar que valores nulos ou discrepantes distorçam as análises.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Bens vs. Despesas:</a:t>
            </a:r>
            <a:r>
              <a:rPr lang="en-US" sz="1100">
                <a:solidFill>
                  <a:schemeClr val="dk1"/>
                </a:solidFill>
              </a:rPr>
              <a:t> Baixa associação entre patrimônio pessoal e gastos eleitorais (+0,38), indicando independência entre riqueza própria e financiamento de campanha.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142A4A"/>
              </a:buClr>
              <a:buSzPts val="1300"/>
              <a:buFont typeface="Calibri"/>
              <a:buNone/>
            </a:pPr>
            <a:r>
              <a:t/>
            </a:r>
            <a:endParaRPr b="1" sz="1300">
              <a:solidFill>
                <a:srgbClr val="14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16" title="02_distribuicao_4_drivers_clusterizaca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3825" y="1374713"/>
            <a:ext cx="6851174" cy="4606475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7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7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7"/>
          <p:cNvSpPr/>
          <p:nvPr/>
        </p:nvSpPr>
        <p:spPr>
          <a:xfrm>
            <a:off x="700945" y="247195"/>
            <a:ext cx="10789500" cy="7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42A4A"/>
                </a:solidFill>
                <a:latin typeface="Calibri"/>
                <a:ea typeface="Calibri"/>
                <a:cs typeface="Calibri"/>
                <a:sym typeface="Calibri"/>
              </a:rPr>
              <a:t>A Divisão Natural: A Geometria dos Dados Aponta com Clareza para 4 Perfis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731525" y="1280150"/>
            <a:ext cx="3474000" cy="5028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320025" spcFirstLastPara="1" rIns="320025" wrap="square" tIns="320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2A4A"/>
                </a:solidFill>
                <a:latin typeface="Calibri"/>
                <a:ea typeface="Calibri"/>
                <a:cs typeface="Calibri"/>
                <a:sym typeface="Calibri"/>
              </a:rPr>
              <a:t>O Caminho Divisivo (Bisecting K-Means)</a:t>
            </a:r>
            <a:br>
              <a:rPr b="0" i="0" lang="en-US" sz="1300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Em vez de forçar cortes simultâneos, partimos de todos os 2.189 candidatos em um único bloco e bissectamos sucessivamente os grupos mais dispersos até encontrar o equilíbrio geométrico.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142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2A4A"/>
                </a:solidFill>
                <a:latin typeface="Calibri"/>
                <a:ea typeface="Calibri"/>
                <a:cs typeface="Calibri"/>
                <a:sym typeface="Calibri"/>
              </a:rPr>
              <a:t>O Consenso das Métricas em K=4</a:t>
            </a:r>
            <a:br>
              <a:rPr b="0" i="0" lang="en-US" sz="1300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Avaliamos de 2 a 8 grupos. K=4 atinge o pico global de </a:t>
            </a: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Silhouette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(0,488) e o mínimo de Davies-Bouldin (0,844), além de uma inflexão nítida no método do cotovelo.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142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2A4A"/>
                </a:solidFill>
                <a:latin typeface="Calibri"/>
                <a:ea typeface="Calibri"/>
                <a:cs typeface="Calibri"/>
                <a:sym typeface="Calibri"/>
              </a:rPr>
              <a:t>Uma Verdade Intrínseca dos Dados</a:t>
            </a:r>
            <a:br>
              <a:rPr b="0" i="0" lang="en-US" sz="1300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Dois algoritmos com filosofias totalmente distintas — K-Means tradicional e Bisecting K-Means — convergiram exatamente para os mesmos grupos (diferença de apenas 2 candidatos em grupos de mais de mil!).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142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2A4A"/>
                </a:solidFill>
                <a:latin typeface="Calibri"/>
                <a:ea typeface="Calibri"/>
                <a:cs typeface="Calibri"/>
                <a:sym typeface="Calibri"/>
              </a:rPr>
              <a:t>A Lógica Revelada</a:t>
            </a:r>
            <a:br>
              <a:rPr b="0" i="0" lang="en-US" sz="1300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 política não se divide apenas em 'ricos e pobres'. A dinâmica real nasce do cruzamento entre capital próprio e capital de campanha em movimento.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17" title="17_v3_metricas_cotovelo_silhouette_db_c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2876" y="1151275"/>
            <a:ext cx="7673324" cy="528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/>
          <p:nvPr/>
        </p:nvSpPr>
        <p:spPr>
          <a:xfrm>
            <a:off x="0" y="0"/>
            <a:ext cx="12191400" cy="68577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8"/>
          <p:cNvSpPr/>
          <p:nvPr/>
        </p:nvSpPr>
        <p:spPr>
          <a:xfrm>
            <a:off x="0" y="0"/>
            <a:ext cx="12191400" cy="726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8"/>
          <p:cNvSpPr/>
          <p:nvPr/>
        </p:nvSpPr>
        <p:spPr>
          <a:xfrm>
            <a:off x="635220" y="466695"/>
            <a:ext cx="10789500" cy="7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A4A"/>
              </a:buClr>
              <a:buSzPts val="2100"/>
              <a:buFont typeface="Calibri"/>
              <a:buNone/>
            </a:pPr>
            <a:r>
              <a:t/>
            </a:r>
            <a:endParaRPr b="1" sz="2100">
              <a:solidFill>
                <a:srgbClr val="142A4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A4A"/>
              </a:buClr>
              <a:buSzPts val="2100"/>
              <a:buFont typeface="Calibri"/>
              <a:buNone/>
            </a:pPr>
            <a:r>
              <a:rPr b="1" lang="en-US" sz="2100">
                <a:solidFill>
                  <a:srgbClr val="142A4A"/>
                </a:solidFill>
                <a:latin typeface="Calibri"/>
                <a:ea typeface="Calibri"/>
                <a:cs typeface="Calibri"/>
                <a:sym typeface="Calibri"/>
              </a:rPr>
              <a:t> Bisecting K-means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p18" title="18_v3_bisecting_arvore_e_inerci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375" y="1590400"/>
            <a:ext cx="11431250" cy="4018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/>
          <p:nvPr/>
        </p:nvSpPr>
        <p:spPr>
          <a:xfrm>
            <a:off x="566825" y="766825"/>
            <a:ext cx="10926300" cy="4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Resumo bisectin  com o `resumo kmeans v3 e a silhouette dos dois: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Ambos os algoritmos concordam integralmente em k = 4, atingindo praticamente o mesmo Silhouette Score (0.488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 no K-Means vs 0.485 no Bisecting).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A partição é praticamente idêntica: os 4 grupos formados pelo Bisecting K-Means reproduzem com precisão os mesmos 4 perfis de médias e despesas que o K-Means padrão.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Isso comprova que a estrutura em 4 clusters é matematicamente consistente e independente da técnica de agrupamento (seja particionamento simultâneo global ou hierárquico divisivo).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/>
          <p:nvPr/>
        </p:nvSpPr>
        <p:spPr>
          <a:xfrm>
            <a:off x="0" y="0"/>
            <a:ext cx="12191400" cy="726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0"/>
          <p:cNvSpPr/>
          <p:nvPr/>
        </p:nvSpPr>
        <p:spPr>
          <a:xfrm>
            <a:off x="300" y="138"/>
            <a:ext cx="12191400" cy="68577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0"/>
          <p:cNvSpPr/>
          <p:nvPr/>
        </p:nvSpPr>
        <p:spPr>
          <a:xfrm>
            <a:off x="57597" y="72600"/>
            <a:ext cx="4525800" cy="7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A4A"/>
              </a:buClr>
              <a:buSzPts val="2100"/>
              <a:buFont typeface="Calibri"/>
              <a:buNone/>
            </a:pPr>
            <a:r>
              <a:rPr b="1" lang="en-US" sz="2100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rPr>
              <a:t>Caracterização dos clusters</a:t>
            </a:r>
            <a:endParaRPr b="1" i="0" sz="2100" cap="none" strike="noStrike">
              <a:solidFill>
                <a:srgbClr val="E06666"/>
              </a:solidFill>
            </a:endParaRPr>
          </a:p>
        </p:txBody>
      </p:sp>
      <p:sp>
        <p:nvSpPr>
          <p:cNvPr id="152" name="Google Shape;152;p20"/>
          <p:cNvSpPr txBox="1"/>
          <p:nvPr/>
        </p:nvSpPr>
        <p:spPr>
          <a:xfrm>
            <a:off x="5642975" y="839625"/>
            <a:ext cx="42402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rPr>
              <a:t>Gráfico de Radar Polar:</a:t>
            </a:r>
            <a:endParaRPr b="1" sz="1900">
              <a:solidFill>
                <a:srgbClr val="E0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53" name="Google Shape;15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324" y="1331638"/>
            <a:ext cx="4865325" cy="511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5025" y="1255225"/>
            <a:ext cx="5684174" cy="5434325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 txBox="1"/>
          <p:nvPr/>
        </p:nvSpPr>
        <p:spPr>
          <a:xfrm>
            <a:off x="3358650" y="185225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0" name="Google Shape;160;p21"/>
          <p:cNvSpPr txBox="1"/>
          <p:nvPr/>
        </p:nvSpPr>
        <p:spPr>
          <a:xfrm>
            <a:off x="0" y="0"/>
            <a:ext cx="8206200" cy="83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rPr>
              <a:t>Caracterização dos clusters - </a:t>
            </a:r>
            <a:r>
              <a:rPr b="1" lang="en-US" sz="2100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rPr>
              <a:t>Por gênero,Cor/Raça, e Estado civil:</a:t>
            </a:r>
            <a:endParaRPr sz="2100">
              <a:solidFill>
                <a:srgbClr val="E0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E0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1"/>
          <p:cNvSpPr txBox="1"/>
          <p:nvPr/>
        </p:nvSpPr>
        <p:spPr>
          <a:xfrm>
            <a:off x="152400" y="1852250"/>
            <a:ext cx="4136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rPr>
              <a:t>Gráficos de barras agrupadas:</a:t>
            </a:r>
            <a:endParaRPr b="1" sz="1900">
              <a:solidFill>
                <a:srgbClr val="E0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902750"/>
            <a:ext cx="11887198" cy="3254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 txBox="1"/>
          <p:nvPr/>
        </p:nvSpPr>
        <p:spPr>
          <a:xfrm>
            <a:off x="152400" y="167300"/>
            <a:ext cx="7326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rPr>
              <a:t>Caracterização dos clusters - Por estado civil</a:t>
            </a:r>
            <a:endParaRPr sz="2100">
              <a:solidFill>
                <a:srgbClr val="E0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2"/>
          <p:cNvSpPr txBox="1"/>
          <p:nvPr/>
        </p:nvSpPr>
        <p:spPr>
          <a:xfrm>
            <a:off x="152400" y="1479513"/>
            <a:ext cx="3938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rPr>
              <a:t>Gráfico de Pizza:</a:t>
            </a:r>
            <a:endParaRPr b="1" sz="1900">
              <a:solidFill>
                <a:srgbClr val="E0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3071438"/>
            <a:ext cx="11887198" cy="20020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 txBox="1"/>
          <p:nvPr/>
        </p:nvSpPr>
        <p:spPr>
          <a:xfrm>
            <a:off x="0" y="68375"/>
            <a:ext cx="7312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rPr>
              <a:t>Caracterização dos clusters - Por gênero,Cor/Raça:</a:t>
            </a:r>
            <a:endParaRPr b="1" sz="2100">
              <a:solidFill>
                <a:srgbClr val="E06666"/>
              </a:solidFill>
            </a:endParaRPr>
          </a:p>
        </p:txBody>
      </p:sp>
      <p:sp>
        <p:nvSpPr>
          <p:cNvPr id="175" name="Google Shape;175;p23"/>
          <p:cNvSpPr txBox="1"/>
          <p:nvPr/>
        </p:nvSpPr>
        <p:spPr>
          <a:xfrm>
            <a:off x="57200" y="992375"/>
            <a:ext cx="4136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rPr>
              <a:t>Gráfico de pizza:</a:t>
            </a:r>
            <a:endParaRPr b="1" sz="1900">
              <a:solidFill>
                <a:srgbClr val="E0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00" y="1511475"/>
            <a:ext cx="11887198" cy="261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0400" y="4223075"/>
            <a:ext cx="9793760" cy="2422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4"/>
          <p:cNvSpPr txBox="1"/>
          <p:nvPr/>
        </p:nvSpPr>
        <p:spPr>
          <a:xfrm>
            <a:off x="0" y="0"/>
            <a:ext cx="7371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rPr>
              <a:t> Caracterização dos clusters - Por profiss</a:t>
            </a:r>
            <a:r>
              <a:rPr b="1" lang="en-US" sz="2100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rPr>
              <a:t>ão</a:t>
            </a:r>
            <a:endParaRPr sz="2100">
              <a:solidFill>
                <a:srgbClr val="E0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4"/>
          <p:cNvSpPr txBox="1"/>
          <p:nvPr/>
        </p:nvSpPr>
        <p:spPr>
          <a:xfrm>
            <a:off x="152400" y="793150"/>
            <a:ext cx="3938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rPr>
              <a:t>Mapa de calor:</a:t>
            </a:r>
            <a:endParaRPr b="1" sz="1900">
              <a:solidFill>
                <a:srgbClr val="E0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700" y="1121750"/>
            <a:ext cx="10306425" cy="528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"/>
          <p:cNvSpPr txBox="1"/>
          <p:nvPr/>
        </p:nvSpPr>
        <p:spPr>
          <a:xfrm>
            <a:off x="428625" y="0"/>
            <a:ext cx="8692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rPr>
              <a:t>Caracterização dos clusters-</a:t>
            </a:r>
            <a:r>
              <a:rPr b="1" lang="en-US" sz="2100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rPr>
              <a:t>Z-Score</a:t>
            </a:r>
            <a:endParaRPr b="1" sz="2200">
              <a:solidFill>
                <a:srgbClr val="E0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5"/>
          <p:cNvSpPr txBox="1"/>
          <p:nvPr/>
        </p:nvSpPr>
        <p:spPr>
          <a:xfrm>
            <a:off x="428625" y="1068850"/>
            <a:ext cx="4136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rPr>
              <a:t>Gráfico de barras agrupadas:</a:t>
            </a:r>
            <a:endParaRPr b="1" sz="1900">
              <a:solidFill>
                <a:srgbClr val="E0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625" y="1728325"/>
            <a:ext cx="11334750" cy="466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6"/>
          <p:cNvSpPr/>
          <p:nvPr/>
        </p:nvSpPr>
        <p:spPr>
          <a:xfrm>
            <a:off x="0" y="0"/>
            <a:ext cx="12191400" cy="68577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6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6"/>
          <p:cNvSpPr/>
          <p:nvPr/>
        </p:nvSpPr>
        <p:spPr>
          <a:xfrm>
            <a:off x="35902" y="200519"/>
            <a:ext cx="113238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A4A"/>
              </a:buClr>
              <a:buSzPts val="2100"/>
              <a:buFont typeface="Calibri"/>
              <a:buNone/>
            </a:pPr>
            <a:r>
              <a:rPr b="1" lang="en-US" sz="2100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rPr>
              <a:t>Caracterização dos clusters(já com os nomes):</a:t>
            </a:r>
            <a:endParaRPr b="0" i="0" sz="2100" cap="none" strike="noStrike">
              <a:solidFill>
                <a:srgbClr val="E0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0" y="741725"/>
            <a:ext cx="5170500" cy="5658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320025" spcFirstLastPara="1" rIns="320025" wrap="square" tIns="274300">
            <a:noAutofit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Clr>
                <a:srgbClr val="142A4A"/>
              </a:buClr>
              <a:buSzPts val="1300"/>
              <a:buFont typeface="Calibri"/>
              <a:buNone/>
            </a:pPr>
            <a:r>
              <a:rPr b="1" lang="en-US" sz="1200">
                <a:solidFill>
                  <a:srgbClr val="142A4A"/>
                </a:solidFill>
              </a:rPr>
              <a:t>Base Simbólica (A) (15,5% da base | 339 cand.)</a:t>
            </a:r>
            <a:br>
              <a:rPr lang="en-US" sz="1200">
                <a:solidFill>
                  <a:schemeClr val="dk1"/>
                </a:solidFill>
              </a:rPr>
            </a:br>
            <a:r>
              <a:rPr lang="en-US" sz="1200">
                <a:solidFill>
                  <a:schemeClr val="dk1"/>
                </a:solidFill>
              </a:rPr>
              <a:t>Esse grupo tem patrimônio zero e despesa zero. Não tem dinheiro próprio, não recebe recurso e não faz campanha. </a:t>
            </a:r>
            <a:r>
              <a:rPr lang="en-US" sz="1200">
                <a:solidFill>
                  <a:srgbClr val="1E293B"/>
                </a:solidFill>
              </a:rPr>
              <a:t>Formada por estudantes (18,4%), agricultores e pequenos comerciantes (72% negros/pardos). Zero mandatos prévios.</a:t>
            </a:r>
            <a:endParaRPr b="1" sz="1200">
              <a:solidFill>
                <a:srgbClr val="142A4A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A4A"/>
              </a:buClr>
              <a:buSzPts val="1300"/>
              <a:buFont typeface="Calibri"/>
              <a:buNone/>
            </a:pPr>
            <a:r>
              <a:rPr b="1" lang="en-US" sz="1200">
                <a:solidFill>
                  <a:srgbClr val="142A4A"/>
                </a:solidFill>
              </a:rPr>
              <a:t>E</a:t>
            </a:r>
            <a:r>
              <a:rPr b="1" i="0" lang="en-US" sz="1200" u="none" cap="none" strike="noStrike">
                <a:solidFill>
                  <a:srgbClr val="142A4A"/>
                </a:solidFill>
              </a:rPr>
              <a:t>struturados (</a:t>
            </a:r>
            <a:r>
              <a:rPr b="1" lang="en-US" sz="1200">
                <a:solidFill>
                  <a:srgbClr val="142A4A"/>
                </a:solidFill>
              </a:rPr>
              <a:t>B) </a:t>
            </a:r>
            <a:r>
              <a:rPr b="1" i="0" lang="en-US" sz="1200" u="none" cap="none" strike="noStrike">
                <a:solidFill>
                  <a:srgbClr val="142A4A"/>
                </a:solidFill>
              </a:rPr>
              <a:t>(52,</a:t>
            </a:r>
            <a:r>
              <a:rPr b="1" lang="en-US" sz="1200">
                <a:solidFill>
                  <a:srgbClr val="142A4A"/>
                </a:solidFill>
              </a:rPr>
              <a:t>2</a:t>
            </a:r>
            <a:r>
              <a:rPr b="1" i="0" lang="en-US" sz="1200" u="none" cap="none" strike="noStrike">
                <a:solidFill>
                  <a:srgbClr val="142A4A"/>
                </a:solidFill>
              </a:rPr>
              <a:t>% da base | 1.1</a:t>
            </a:r>
            <a:r>
              <a:rPr b="1" lang="en-US" sz="1200">
                <a:solidFill>
                  <a:srgbClr val="142A4A"/>
                </a:solidFill>
              </a:rPr>
              <a:t>42</a:t>
            </a:r>
            <a:r>
              <a:rPr b="1" i="0" lang="en-US" sz="1200" u="none" cap="none" strike="noStrike">
                <a:solidFill>
                  <a:srgbClr val="142A4A"/>
                </a:solidFill>
              </a:rPr>
              <a:t> cand.)</a:t>
            </a:r>
            <a:br>
              <a:rPr i="0" lang="en-US" sz="1200" u="none" cap="none" strike="noStrike"/>
            </a:br>
            <a:r>
              <a:rPr lang="en-US" sz="1200">
                <a:solidFill>
                  <a:schemeClr val="dk1"/>
                </a:solidFill>
              </a:rPr>
              <a:t>É o único com valor alto nos 4 eixos: tem dinheiro próprio e gasta muito na campanha. </a:t>
            </a:r>
            <a:br>
              <a:rPr lang="en-US" sz="1200">
                <a:solidFill>
                  <a:schemeClr val="dk1"/>
                </a:solidFill>
              </a:rPr>
            </a:br>
            <a:r>
              <a:rPr i="0" lang="en-US" sz="1200" u="none" cap="none" strike="noStrike">
                <a:solidFill>
                  <a:srgbClr val="1E293B"/>
                </a:solidFill>
              </a:rPr>
              <a:t>A máquina eleitoral competitiva: mediana de R$ 400k em bens e R$ 159k em gastos. Reúne 100% dos Deputados Federais em exercício que tentam reeleição, além de médicos e empresários (72% homens).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142A4A"/>
              </a:buClr>
              <a:buSzPts val="1300"/>
              <a:buFont typeface="Calibri"/>
              <a:buNone/>
            </a:pPr>
            <a:r>
              <a:rPr b="1" i="0" lang="en-US" sz="1200" u="none" cap="none" strike="noStrike">
                <a:solidFill>
                  <a:srgbClr val="142A4A"/>
                </a:solidFill>
              </a:rPr>
              <a:t>Financiados</a:t>
            </a:r>
            <a:r>
              <a:rPr b="1" lang="en-US" sz="1200">
                <a:solidFill>
                  <a:srgbClr val="142A4A"/>
                </a:solidFill>
              </a:rPr>
              <a:t> (C)</a:t>
            </a:r>
            <a:r>
              <a:rPr b="1" i="0" lang="en-US" sz="1200" u="none" cap="none" strike="noStrike">
                <a:solidFill>
                  <a:srgbClr val="142A4A"/>
                </a:solidFill>
              </a:rPr>
              <a:t> (2</a:t>
            </a:r>
            <a:r>
              <a:rPr b="1" lang="en-US" sz="1200">
                <a:solidFill>
                  <a:srgbClr val="142A4A"/>
                </a:solidFill>
              </a:rPr>
              <a:t>0.5</a:t>
            </a:r>
            <a:r>
              <a:rPr b="1" i="0" lang="en-US" sz="1200" u="none" cap="none" strike="noStrike">
                <a:solidFill>
                  <a:srgbClr val="142A4A"/>
                </a:solidFill>
              </a:rPr>
              <a:t>% da base | 4</a:t>
            </a:r>
            <a:r>
              <a:rPr b="1" lang="en-US" sz="1200">
                <a:solidFill>
                  <a:srgbClr val="142A4A"/>
                </a:solidFill>
              </a:rPr>
              <a:t>49</a:t>
            </a:r>
            <a:r>
              <a:rPr b="1" i="0" lang="en-US" sz="1200" u="none" cap="none" strike="noStrike">
                <a:solidFill>
                  <a:srgbClr val="142A4A"/>
                </a:solidFill>
              </a:rPr>
              <a:t> cand.)</a:t>
            </a:r>
            <a:br>
              <a:rPr i="0" lang="en-US" sz="1200" u="none" cap="none" strike="noStrike"/>
            </a:br>
            <a:r>
              <a:rPr lang="en-US" sz="1200">
                <a:solidFill>
                  <a:schemeClr val="dk1"/>
                </a:solidFill>
              </a:rPr>
              <a:t>Com o  patrimônio zero, mas despesas altas.</a:t>
            </a:r>
            <a:r>
              <a:rPr i="0" lang="en-US" sz="1200" u="none" cap="none" strike="noStrike">
                <a:solidFill>
                  <a:srgbClr val="1E293B"/>
                </a:solidFill>
              </a:rPr>
              <a:t>O achado social mais marcante da análise: ÚNICO grupo com MAIORIA FEMININA (51,5%)! Candidatas sem bens acumulados que ganharam viabilidade graças às cotas públicas de repasse do Fundo Eleitoral.</a:t>
            </a:r>
            <a:endParaRPr i="0" sz="12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142A4A"/>
              </a:buClr>
              <a:buSzPts val="1300"/>
              <a:buFont typeface="Calibri"/>
              <a:buNone/>
            </a:pPr>
            <a:r>
              <a:rPr b="1" i="0" lang="en-US" sz="1200" u="none" cap="none" strike="noStrike">
                <a:solidFill>
                  <a:srgbClr val="142A4A"/>
                </a:solidFill>
              </a:rPr>
              <a:t>Patrimônio Sem Campanha (D) (11,</a:t>
            </a:r>
            <a:r>
              <a:rPr b="1" lang="en-US" sz="1200">
                <a:solidFill>
                  <a:srgbClr val="142A4A"/>
                </a:solidFill>
              </a:rPr>
              <a:t>8</a:t>
            </a:r>
            <a:r>
              <a:rPr b="1" i="0" lang="en-US" sz="1200" u="none" cap="none" strike="noStrike">
                <a:solidFill>
                  <a:srgbClr val="142A4A"/>
                </a:solidFill>
              </a:rPr>
              <a:t>% | 2</a:t>
            </a:r>
            <a:r>
              <a:rPr b="1" lang="en-US" sz="1200">
                <a:solidFill>
                  <a:srgbClr val="142A4A"/>
                </a:solidFill>
              </a:rPr>
              <a:t>59</a:t>
            </a:r>
            <a:r>
              <a:rPr b="1" i="0" lang="en-US" sz="1200" u="none" cap="none" strike="noStrike">
                <a:solidFill>
                  <a:srgbClr val="142A4A"/>
                </a:solidFill>
              </a:rPr>
              <a:t> cand.)</a:t>
            </a:r>
            <a:br>
              <a:rPr i="0" lang="en-US" sz="1200" u="none" cap="none" strike="noStrike"/>
            </a:br>
            <a:r>
              <a:rPr lang="en-US" sz="1200">
                <a:solidFill>
                  <a:schemeClr val="dk1"/>
                </a:solidFill>
              </a:rPr>
              <a:t>Já é o oposto: tem patrimônio, mas despesas zero.</a:t>
            </a:r>
            <a:r>
              <a:rPr i="0" lang="en-US" sz="1200" u="none" cap="none" strike="noStrike">
                <a:solidFill>
                  <a:srgbClr val="1E293B"/>
                </a:solidFill>
              </a:rPr>
              <a:t>O enigma da eleição: candidatos abastados (mediana de R$ 140k em bens) que não gastaram nada em campanha. Mais da metade (52,3%) são Advogados ou Empresários com média de 55 anos.</a:t>
            </a:r>
            <a:endParaRPr i="0" sz="1200" u="none" cap="none" strike="noStrike"/>
          </a:p>
        </p:txBody>
      </p:sp>
      <p:pic>
        <p:nvPicPr>
          <p:cNvPr id="200" name="Google Shape;20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0725" y="741725"/>
            <a:ext cx="6899450" cy="56586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</p:pic>
      <p:sp>
        <p:nvSpPr>
          <p:cNvPr id="201" name="Google Shape;201;p26"/>
          <p:cNvSpPr txBox="1"/>
          <p:nvPr/>
        </p:nvSpPr>
        <p:spPr>
          <a:xfrm>
            <a:off x="6132750" y="743975"/>
            <a:ext cx="1577100" cy="338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</a:rPr>
              <a:t> </a:t>
            </a:r>
            <a:r>
              <a:rPr b="1" lang="en-US" sz="1000">
                <a:solidFill>
                  <a:schemeClr val="dk1"/>
                </a:solidFill>
              </a:rPr>
              <a:t>Base Simbólica</a:t>
            </a:r>
            <a:endParaRPr b="1" sz="600">
              <a:solidFill>
                <a:schemeClr val="dk1"/>
              </a:solidFill>
            </a:endParaRPr>
          </a:p>
        </p:txBody>
      </p:sp>
      <p:sp>
        <p:nvSpPr>
          <p:cNvPr id="202" name="Google Shape;202;p26"/>
          <p:cNvSpPr txBox="1"/>
          <p:nvPr/>
        </p:nvSpPr>
        <p:spPr>
          <a:xfrm>
            <a:off x="10146975" y="817750"/>
            <a:ext cx="689400" cy="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3" name="Google Shape;203;p26"/>
          <p:cNvSpPr txBox="1"/>
          <p:nvPr/>
        </p:nvSpPr>
        <p:spPr>
          <a:xfrm>
            <a:off x="9716175" y="803225"/>
            <a:ext cx="1456800" cy="22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/>
              <a:t>  Estruturados </a:t>
            </a:r>
            <a:endParaRPr b="1" sz="1000"/>
          </a:p>
        </p:txBody>
      </p:sp>
      <p:sp>
        <p:nvSpPr>
          <p:cNvPr id="204" name="Google Shape;204;p26"/>
          <p:cNvSpPr txBox="1"/>
          <p:nvPr/>
        </p:nvSpPr>
        <p:spPr>
          <a:xfrm>
            <a:off x="6319450" y="3683900"/>
            <a:ext cx="1335600" cy="27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/>
              <a:t>Financiados</a:t>
            </a:r>
            <a:endParaRPr b="1" sz="1000"/>
          </a:p>
        </p:txBody>
      </p:sp>
      <p:sp>
        <p:nvSpPr>
          <p:cNvPr id="205" name="Google Shape;205;p26"/>
          <p:cNvSpPr txBox="1"/>
          <p:nvPr/>
        </p:nvSpPr>
        <p:spPr>
          <a:xfrm>
            <a:off x="9392925" y="3729300"/>
            <a:ext cx="2197500" cy="27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/>
              <a:t> Patrimônio Sem Campanha</a:t>
            </a:r>
            <a:endParaRPr b="1"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7"/>
          <p:cNvSpPr/>
          <p:nvPr/>
        </p:nvSpPr>
        <p:spPr>
          <a:xfrm>
            <a:off x="603825" y="-50850"/>
            <a:ext cx="12191400" cy="68577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7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7"/>
          <p:cNvSpPr/>
          <p:nvPr/>
        </p:nvSpPr>
        <p:spPr>
          <a:xfrm>
            <a:off x="701220" y="311570"/>
            <a:ext cx="10789500" cy="7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A4A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142A4A"/>
                </a:solidFill>
                <a:latin typeface="Calibri"/>
                <a:ea typeface="Calibri"/>
                <a:cs typeface="Calibri"/>
                <a:sym typeface="Calibri"/>
              </a:rPr>
              <a:t>Confiança na Previsão dos 4 </a:t>
            </a:r>
            <a:r>
              <a:rPr b="1" lang="en-US" sz="2100">
                <a:solidFill>
                  <a:srgbClr val="142A4A"/>
                </a:solidFill>
                <a:latin typeface="Calibri"/>
                <a:ea typeface="Calibri"/>
                <a:cs typeface="Calibri"/>
                <a:sym typeface="Calibri"/>
              </a:rPr>
              <a:t>Clusters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7"/>
          <p:cNvSpPr/>
          <p:nvPr/>
        </p:nvSpPr>
        <p:spPr>
          <a:xfrm>
            <a:off x="731520" y="1280160"/>
            <a:ext cx="5120280" cy="50288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320025" spcFirstLastPara="1" rIns="320025" wrap="square" tIns="320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42A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42A4A"/>
                </a:solidFill>
                <a:latin typeface="Calibri"/>
                <a:ea typeface="Calibri"/>
                <a:cs typeface="Calibri"/>
                <a:sym typeface="Calibri"/>
              </a:rPr>
              <a:t>Variáveis contínuas em quartis:</a:t>
            </a:r>
            <a:endParaRPr b="1" sz="1300">
              <a:solidFill>
                <a:srgbClr val="142A4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42A4A"/>
              </a:buClr>
              <a:buSzPts val="13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Idade em 4 faixas iguais;</a:t>
            </a:r>
            <a:endParaRPr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42A4A"/>
              </a:buClr>
              <a:buSzPts val="13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Escolaridade em 4 faixas alinhadas aos anos de estudo;</a:t>
            </a:r>
            <a:endParaRPr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42A4A"/>
              </a:buClr>
              <a:buSzPts val="13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Patrimônio e despesas em quartis isolando os valores igual a 0 como categoria semântica própria.</a:t>
            </a:r>
            <a:endParaRPr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42A4A"/>
              </a:buClr>
              <a:buSzPts val="1300"/>
              <a:buFont typeface="Calibri"/>
              <a:buNone/>
            </a:pPr>
            <a:r>
              <a:t/>
            </a:r>
            <a:endParaRPr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42A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42A4A"/>
                </a:solidFill>
                <a:latin typeface="Calibri"/>
                <a:ea typeface="Calibri"/>
                <a:cs typeface="Calibri"/>
                <a:sym typeface="Calibri"/>
              </a:rPr>
              <a:t>Perspectiva Preditiva (Características </a:t>
            </a: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➔</a:t>
            </a:r>
            <a:r>
              <a:rPr b="1" lang="en-US" sz="1300">
                <a:solidFill>
                  <a:srgbClr val="142A4A"/>
                </a:solidFill>
                <a:latin typeface="Calibri"/>
                <a:ea typeface="Calibri"/>
                <a:cs typeface="Calibri"/>
                <a:sym typeface="Calibri"/>
              </a:rPr>
              <a:t> Cluster):</a:t>
            </a:r>
            <a:br>
              <a:rPr lang="en-US" sz="1300">
                <a:solidFill>
                  <a:schemeClr val="dk1"/>
                </a:solidFill>
              </a:rPr>
            </a:b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As regras que predizem a entrada nos clusters tem confiança de até 100%, comprovando a nomeação dos clusters na etapa passada.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142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2A4A"/>
                </a:solidFill>
                <a:latin typeface="Calibri"/>
                <a:ea typeface="Calibri"/>
                <a:cs typeface="Calibri"/>
                <a:sym typeface="Calibri"/>
              </a:rPr>
              <a:t>O Casamento entre Bens e Despesas</a:t>
            </a:r>
            <a:br>
              <a:rPr b="0" i="0" lang="en-US" sz="1300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Sem Bens + Sem Despesa ➔ 100% Base Simbólica (Lift 6,</a:t>
            </a: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45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Bens Médios/Altos + Sem Despesa ➔ 100% Patr. Sem Campanha (Lift 8,</a:t>
            </a: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45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Bens Altos + Despesa Alta ➔ 100% Estruturados (Lift 1,91)</a:t>
            </a:r>
            <a:endParaRPr b="0" i="0" sz="1100" u="none" cap="none" strike="noStrike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Sem Bens + Despesa Média/Alta ➔ 100% Financiados (Lift 4,87)</a:t>
            </a:r>
            <a:endParaRPr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9650" y="3083850"/>
            <a:ext cx="6618650" cy="2159625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</p:pic>
      <p:pic>
        <p:nvPicPr>
          <p:cNvPr id="215" name="Google Shape;21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9650" y="545750"/>
            <a:ext cx="6618651" cy="2281925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</p:pic>
      <p:pic>
        <p:nvPicPr>
          <p:cNvPr id="216" name="Google Shape;216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69650" y="5499650"/>
            <a:ext cx="6618650" cy="1095375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8"/>
          <p:cNvSpPr/>
          <p:nvPr/>
        </p:nvSpPr>
        <p:spPr>
          <a:xfrm>
            <a:off x="0" y="0"/>
            <a:ext cx="12191400" cy="68577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8"/>
          <p:cNvSpPr/>
          <p:nvPr/>
        </p:nvSpPr>
        <p:spPr>
          <a:xfrm>
            <a:off x="0" y="0"/>
            <a:ext cx="12191400" cy="726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3" name="Google Shape;22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5875" y="189800"/>
            <a:ext cx="5992449" cy="32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125" y="189800"/>
            <a:ext cx="5801449" cy="32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45875" y="3498674"/>
            <a:ext cx="5992450" cy="32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4125" y="3501425"/>
            <a:ext cx="5801450" cy="3242175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9"/>
          <p:cNvSpPr/>
          <p:nvPr/>
        </p:nvSpPr>
        <p:spPr>
          <a:xfrm>
            <a:off x="50150" y="150"/>
            <a:ext cx="12191400" cy="68577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9"/>
          <p:cNvSpPr/>
          <p:nvPr/>
        </p:nvSpPr>
        <p:spPr>
          <a:xfrm>
            <a:off x="0" y="0"/>
            <a:ext cx="12191400" cy="726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9"/>
          <p:cNvSpPr/>
          <p:nvPr/>
        </p:nvSpPr>
        <p:spPr>
          <a:xfrm>
            <a:off x="701220" y="311570"/>
            <a:ext cx="10789500" cy="7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A4A"/>
              </a:buClr>
              <a:buSzPts val="2100"/>
              <a:buFont typeface="Calibri"/>
              <a:buNone/>
            </a:pPr>
            <a:r>
              <a:rPr b="1" lang="en-US" sz="2100">
                <a:solidFill>
                  <a:srgbClr val="142A4A"/>
                </a:solidFill>
                <a:latin typeface="Calibri"/>
                <a:ea typeface="Calibri"/>
                <a:cs typeface="Calibri"/>
                <a:sym typeface="Calibri"/>
              </a:rPr>
              <a:t>Clusters como </a:t>
            </a:r>
            <a:r>
              <a:rPr b="1" lang="en-US" sz="2100">
                <a:solidFill>
                  <a:srgbClr val="142A4A"/>
                </a:solidFill>
                <a:latin typeface="Calibri"/>
                <a:ea typeface="Calibri"/>
                <a:cs typeface="Calibri"/>
                <a:sym typeface="Calibri"/>
              </a:rPr>
              <a:t>antecedente</a:t>
            </a:r>
            <a:r>
              <a:rPr b="1" lang="en-US" sz="2100">
                <a:solidFill>
                  <a:srgbClr val="142A4A"/>
                </a:solidFill>
                <a:latin typeface="Calibri"/>
                <a:ea typeface="Calibri"/>
                <a:cs typeface="Calibri"/>
                <a:sym typeface="Calibri"/>
              </a:rPr>
              <a:t> e as </a:t>
            </a:r>
            <a:r>
              <a:rPr b="1" lang="en-US" sz="2100">
                <a:solidFill>
                  <a:srgbClr val="142A4A"/>
                </a:solidFill>
                <a:latin typeface="Calibri"/>
                <a:ea typeface="Calibri"/>
                <a:cs typeface="Calibri"/>
                <a:sym typeface="Calibri"/>
              </a:rPr>
              <a:t>Características</a:t>
            </a:r>
            <a:r>
              <a:rPr b="1" lang="en-US" sz="2100">
                <a:solidFill>
                  <a:srgbClr val="142A4A"/>
                </a:solidFill>
                <a:latin typeface="Calibri"/>
                <a:ea typeface="Calibri"/>
                <a:cs typeface="Calibri"/>
                <a:sym typeface="Calibri"/>
              </a:rPr>
              <a:t> como consequente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9"/>
          <p:cNvSpPr/>
          <p:nvPr/>
        </p:nvSpPr>
        <p:spPr>
          <a:xfrm>
            <a:off x="731525" y="1280150"/>
            <a:ext cx="2336400" cy="5028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45000" lIns="320025" spcFirstLastPara="1" rIns="320025" wrap="square" tIns="320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142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2A4A"/>
                </a:solidFill>
                <a:latin typeface="Calibri"/>
                <a:ea typeface="Calibri"/>
                <a:cs typeface="Calibri"/>
                <a:sym typeface="Calibri"/>
              </a:rPr>
              <a:t>O DNA de Cada Grupo Revelado</a:t>
            </a:r>
            <a:br>
              <a:rPr b="0" i="0" lang="en-US" sz="1300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Fixando o Cluster no ponto de partida</a:t>
            </a: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, descobrimos o perfil sociopolítico de cada grupo.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b="0" i="0" lang="en-US" sz="1300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Estruturados concentram a elite política;</a:t>
            </a:r>
            <a:endParaRPr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rgbClr val="142A4A"/>
              </a:buClr>
              <a:buSzPts val="13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Financiados reúnem perfis mais jovem e feminino;</a:t>
            </a:r>
            <a:endParaRPr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rgbClr val="142A4A"/>
              </a:buClr>
              <a:buSzPts val="13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Base Simbólica tem o menor nivel educacional e maior presença de negros e solteiros;</a:t>
            </a:r>
            <a:endParaRPr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rgbClr val="142A4A"/>
              </a:buClr>
              <a:buSzPts val="13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Patrimônio sem campanha perfil fortemente masculino e faixas etárias mais velhas.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5" name="Google Shape;23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8900" y="922425"/>
            <a:ext cx="8528650" cy="5386599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0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0"/>
          <p:cNvSpPr/>
          <p:nvPr/>
        </p:nvSpPr>
        <p:spPr>
          <a:xfrm>
            <a:off x="319800" y="239225"/>
            <a:ext cx="3070800" cy="7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A4A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142A4A"/>
                </a:solidFill>
                <a:latin typeface="Calibri"/>
                <a:ea typeface="Calibri"/>
                <a:cs typeface="Calibri"/>
                <a:sym typeface="Calibri"/>
              </a:rPr>
              <a:t>Os Casos Fora da Curva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30"/>
          <p:cNvSpPr/>
          <p:nvPr/>
        </p:nvSpPr>
        <p:spPr>
          <a:xfrm>
            <a:off x="345750" y="825100"/>
            <a:ext cx="3018900" cy="5775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320025" spcFirstLastPara="1" rIns="320025" wrap="square" tIns="320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A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42A4A"/>
                </a:solidFill>
                <a:latin typeface="Calibri"/>
                <a:ea typeface="Calibri"/>
                <a:cs typeface="Calibri"/>
                <a:sym typeface="Calibri"/>
              </a:rPr>
              <a:t>Calibração da Contaminação</a:t>
            </a:r>
            <a:endParaRPr b="1" sz="1300">
              <a:solidFill>
                <a:srgbClr val="142A4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A4A"/>
              </a:buClr>
              <a:buSzPts val="1300"/>
              <a:buFont typeface="Calibri"/>
              <a:buNone/>
            </a:pPr>
            <a:r>
              <a:rPr lang="en-US" sz="1200">
                <a:solidFill>
                  <a:srgbClr val="142A4A"/>
                </a:solidFill>
                <a:latin typeface="Calibri"/>
                <a:ea typeface="Calibri"/>
                <a:cs typeface="Calibri"/>
                <a:sym typeface="Calibri"/>
              </a:rPr>
              <a:t>O valor de contaminação aplicado foi de 3%, o modo auto do scikit-learn sinalizou 37% da base, uma contaminação impraticável.</a:t>
            </a:r>
            <a:endParaRPr sz="1200">
              <a:solidFill>
                <a:srgbClr val="142A4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142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2A4A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r>
              <a:rPr b="1" lang="en-US" sz="1300">
                <a:solidFill>
                  <a:srgbClr val="142A4A"/>
                </a:solidFill>
                <a:latin typeface="Calibri"/>
                <a:ea typeface="Calibri"/>
                <a:cs typeface="Calibri"/>
                <a:sym typeface="Calibri"/>
              </a:rPr>
              <a:t> líderes de anomalia, um de cada cluster</a:t>
            </a:r>
            <a:br>
              <a:rPr b="0" i="0" lang="en-US" sz="1300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Ubirajara É Show Papai (Patrimônio Sem Campanha): 54 anos, grau de instrução “lê e escreve”, patrimônio de R$ 3,16 milhões e R$ 0 gastos em campanha.</a:t>
            </a:r>
            <a:endParaRPr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rgbClr val="142A4A"/>
              </a:buClr>
              <a:buSzPts val="13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Claudio Menezes (Base Simbólica): 63 anos, grau de instrução “lê e escreve”, zero patrimônios e gastos.</a:t>
            </a:r>
            <a:endParaRPr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rgbClr val="142A4A"/>
              </a:buClr>
              <a:buSzPts val="13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Maria Helenice  (Estruturados): 70 anos, grau de instrução “ensino fundamental incompleto”, patrimônio de R$ 200 mil e R$ 5 mil de gastos em campanha.</a:t>
            </a:r>
            <a:endParaRPr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Vanuzia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Financiados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): 53 anos</a:t>
            </a: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, grau de instrução “lê e escreve”, sem bens declarados e R$ 9.990 de gastos em campanha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2272" y="239225"/>
            <a:ext cx="8334828" cy="6379551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1"/>
          <p:cNvSpPr/>
          <p:nvPr/>
        </p:nvSpPr>
        <p:spPr>
          <a:xfrm>
            <a:off x="0" y="0"/>
            <a:ext cx="12191400" cy="68577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1"/>
          <p:cNvSpPr/>
          <p:nvPr/>
        </p:nvSpPr>
        <p:spPr>
          <a:xfrm>
            <a:off x="0" y="0"/>
            <a:ext cx="12191400" cy="726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1"/>
          <p:cNvSpPr/>
          <p:nvPr/>
        </p:nvSpPr>
        <p:spPr>
          <a:xfrm>
            <a:off x="335045" y="914560"/>
            <a:ext cx="5120400" cy="5028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45000" lIns="320025" spcFirstLastPara="1" rIns="320025" wrap="square" tIns="320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142A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42A4A"/>
                </a:solidFill>
                <a:latin typeface="Calibri"/>
                <a:ea typeface="Calibri"/>
                <a:cs typeface="Calibri"/>
                <a:sym typeface="Calibri"/>
              </a:rPr>
              <a:t>Dois casos extras notórios:</a:t>
            </a:r>
            <a:br>
              <a:rPr b="0" i="0" lang="en-US" sz="1300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Nathalia Pedrosa (Patrimônio sem campanha)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anos</a:t>
            </a: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, grau de instrução Superior incompleto,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patrimônio de R$ </a:t>
            </a: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48,3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milhões e R$ 0 gastos em campanha</a:t>
            </a: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rgbClr val="142A4A"/>
              </a:buClr>
              <a:buSzPts val="13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Tiririca (Estruturados): 61 anos, grau de instrução “lê e escreve”, patrimônio de R$ 733 mil e R$ 345 mil de gastos em campanha.</a:t>
            </a:r>
            <a:endParaRPr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142A4A"/>
              </a:buClr>
              <a:buSzPts val="1300"/>
              <a:buFont typeface="Calibri"/>
              <a:buNone/>
            </a:pPr>
            <a:r>
              <a:t/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lide6_anomalias_2d_destaque.png" id="252" name="Google Shape;25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95779" y="914550"/>
            <a:ext cx="6162445" cy="502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2"/>
          <p:cNvSpPr/>
          <p:nvPr/>
        </p:nvSpPr>
        <p:spPr>
          <a:xfrm>
            <a:off x="0" y="0"/>
            <a:ext cx="12191400" cy="68577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2"/>
          <p:cNvSpPr/>
          <p:nvPr/>
        </p:nvSpPr>
        <p:spPr>
          <a:xfrm>
            <a:off x="0" y="0"/>
            <a:ext cx="12191400" cy="726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9" name="Google Shape;25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625" y="363850"/>
            <a:ext cx="6359599" cy="613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88875" y="363688"/>
            <a:ext cx="5497825" cy="6130324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3"/>
          <p:cNvSpPr/>
          <p:nvPr/>
        </p:nvSpPr>
        <p:spPr>
          <a:xfrm>
            <a:off x="0" y="0"/>
            <a:ext cx="12191400" cy="68577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3"/>
          <p:cNvSpPr/>
          <p:nvPr/>
        </p:nvSpPr>
        <p:spPr>
          <a:xfrm>
            <a:off x="0" y="0"/>
            <a:ext cx="12191400" cy="726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7" name="Google Shape;26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400" y="305575"/>
            <a:ext cx="5507826" cy="3039975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</p:pic>
      <p:pic>
        <p:nvPicPr>
          <p:cNvPr id="268" name="Google Shape;268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0350" y="283788"/>
            <a:ext cx="5741599" cy="308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3400" y="3488825"/>
            <a:ext cx="5507825" cy="3139924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</p:pic>
      <p:pic>
        <p:nvPicPr>
          <p:cNvPr id="270" name="Google Shape;270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20350" y="3538800"/>
            <a:ext cx="5741599" cy="3039975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4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4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4"/>
          <p:cNvSpPr/>
          <p:nvPr/>
        </p:nvSpPr>
        <p:spPr>
          <a:xfrm>
            <a:off x="731520" y="502920"/>
            <a:ext cx="10789560" cy="409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A4A"/>
              </a:buClr>
              <a:buSzPts val="2100"/>
              <a:buFont typeface="Calibri"/>
              <a:buNone/>
            </a:pPr>
            <a:r>
              <a:rPr b="1" lang="en-US" sz="2100">
                <a:solidFill>
                  <a:srgbClr val="142A4A"/>
                </a:solidFill>
                <a:latin typeface="Calibri"/>
                <a:ea typeface="Calibri"/>
                <a:cs typeface="Calibri"/>
                <a:sym typeface="Calibri"/>
              </a:rPr>
              <a:t>Conclusão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34"/>
          <p:cNvSpPr/>
          <p:nvPr/>
        </p:nvSpPr>
        <p:spPr>
          <a:xfrm>
            <a:off x="731520" y="1280160"/>
            <a:ext cx="5120280" cy="50288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320025" spcFirstLastPara="1" rIns="320025" wrap="square" tIns="320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2A4A"/>
                </a:solidFill>
                <a:latin typeface="Calibri"/>
                <a:ea typeface="Calibri"/>
                <a:cs typeface="Calibri"/>
                <a:sym typeface="Calibri"/>
              </a:rPr>
              <a:t>O Que Confirmou Expectativas</a:t>
            </a:r>
            <a:br>
              <a:rPr b="0" i="0" lang="en-US" sz="1300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 política de alta densidade no Nordeste continua sendo dominada por uma elite estabelecida (os Estruturados: mandatários, médicos e advogados com alto patrimônio e altas despesas). Além disso, confirmou-se que centenas de candidaturas existem unicamente no papel para fins burocráticos (a Base Simbólica).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142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2A4A"/>
                </a:solidFill>
                <a:latin typeface="Calibri"/>
                <a:ea typeface="Calibri"/>
                <a:cs typeface="Calibri"/>
                <a:sym typeface="Calibri"/>
              </a:rPr>
              <a:t>O Que os Dados Trouxeram de Novo</a:t>
            </a:r>
            <a:br>
              <a:rPr b="0" i="0" lang="en-US" sz="1300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O impacto real das cotas: As mulheres não estão na base simbólica, mas sim nos Financiados (&gt;51%), movimentando recursos públicos sem necessidade de capital próprio.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A elite inativa: 11% dos candidatos têm patrimônio substancial, mas optam por não investir um centavo na disputa.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34"/>
          <p:cNvSpPr/>
          <p:nvPr/>
        </p:nvSpPr>
        <p:spPr>
          <a:xfrm>
            <a:off x="6217920" y="1280160"/>
            <a:ext cx="5211720" cy="5028840"/>
          </a:xfrm>
          <a:prstGeom prst="roundRect">
            <a:avLst>
              <a:gd fmla="val 16667" name="adj"/>
            </a:avLst>
          </a:prstGeom>
          <a:solidFill>
            <a:srgbClr val="142A4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365750" spcFirstLastPara="1" rIns="365750" wrap="square" tIns="365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A CONTRIBUIÇÃO CENTRAL DO ESTUDO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99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Superação da Visão Simplista</a:t>
            </a:r>
            <a:br>
              <a:rPr b="0" i="0" lang="en-US" sz="1250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 disputa eleitoral para Deputado Federal não é um bloco único nem uma simples oposição entre ricos e pobres: ela opera através de 4 engrenagens políticas distintas.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A Ciência de Dados a Serviço da Transparência</a:t>
            </a:r>
            <a:br>
              <a:rPr b="0" i="0" lang="en-US" sz="1250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 combinação de clusterização hierárquica, regras de associação determinísticas e detecção de anomalias permitiu mapear os papéis funcionais e o uso dos recursos públicos.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Evidência Empírica para Políticas Públicas</a:t>
            </a:r>
            <a:br>
              <a:rPr b="0" i="0" lang="en-US" sz="1250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O estudo prova empiricamente que as políticas de cota e financiamento público transformam diretamente o perfil dos atores que entram na arena da disputa democrática.</a:t>
            </a:r>
            <a:endParaRPr b="0" i="0" sz="1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5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42A4A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5"/>
          <p:cNvSpPr/>
          <p:nvPr/>
        </p:nvSpPr>
        <p:spPr>
          <a:xfrm>
            <a:off x="0" y="0"/>
            <a:ext cx="12191400" cy="13680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5"/>
          <p:cNvSpPr/>
          <p:nvPr/>
        </p:nvSpPr>
        <p:spPr>
          <a:xfrm>
            <a:off x="2413080" y="2668320"/>
            <a:ext cx="7334640" cy="1429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Obrigado pela Atenção!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Mineração de Dados Eleitorais • Grupo 4 (Nordeste 2026)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