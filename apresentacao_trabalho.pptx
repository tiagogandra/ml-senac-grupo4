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9DE072-38ED-46EE-A495-77CC7BEC76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1E29E-6E0F-4586-80E2-43A458EC17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9782C-3E40-4E88-9726-AD32D1CE4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896963-251B-49D5-B1D6-3798A3FF69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7B7CDF-70CA-47AC-9905-050EA09C95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F8E85-6E44-4E81-A490-1300EB4125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EE1B1C-3C13-49F9-8CF8-9046D1409C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4B09-D171-4BE6-BF62-2CA04F449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28B8B-F44D-430C-A74A-1C1B2DF94F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241A6-608B-4ABC-ADAE-4FF114703E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1CC6D-F5A4-43F6-ABE6-894BDE9248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3F7D0F-5131-4FC0-9E40-248B1C031E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2538BB-99CA-4E36-933C-DAE0D851B3C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0" y="0"/>
            <a:ext cx="12191400" cy="136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ounded Rectangle 3"/>
          <p:cNvSpPr/>
          <p:nvPr/>
        </p:nvSpPr>
        <p:spPr>
          <a:xfrm>
            <a:off x="914400" y="1097280"/>
            <a:ext cx="4388760" cy="411120"/>
          </a:xfrm>
          <a:prstGeom prst="roundRect">
            <a:avLst>
              <a:gd name="adj" fmla="val 16667"/>
            </a:avLst>
          </a:prstGeom>
          <a:solidFill>
            <a:srgbClr val="1e3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e2e8f0"/>
                </a:solidFill>
                <a:latin typeface="Calibri"/>
              </a:rPr>
              <a:t>SENAC • PÓS-GRADUAÇÃO EM DATA SCIENCE E IA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1691640"/>
            <a:ext cx="10332360" cy="13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Anatomia de uma Eleição Federal</a:t>
            </a:r>
            <a:endParaRPr b="0" lang="pt-BR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bfdbfe"/>
                </a:solidFill>
                <a:latin typeface="Calibri"/>
              </a:rPr>
              <a:t>O que os dados do TSE revelam sobre patrimônio, poder e o impacto das cotas no Nordeste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56160" y="3840480"/>
            <a:ext cx="10248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</a:rPr>
              <a:t>Estudo Descritivo e Não Supervisionado: Análise Exploratória • Bisecting K-Means • Regras de Associação • Detecção de Anomalias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914400" y="4480560"/>
            <a:ext cx="10332360" cy="1645560"/>
          </a:xfrm>
          <a:prstGeom prst="roundRect">
            <a:avLst>
              <a:gd name="adj" fmla="val 16667"/>
            </a:avLst>
          </a:prstGeom>
          <a:solidFill>
            <a:srgbClr val="0f2039"/>
          </a:solidFill>
          <a:ln w="12700"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2286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</a:rPr>
              <a:t>PROJETO APLICADO DE MINERAÇÃO DE DADOS — GRUPO 4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Integrantes: Tiago Gandra • Marcos Junqueira • Gabrielle • Jhonatan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Candidatos a Deputado Federal nos 9 Estados do Nordeste (Eleições 2026)</a:t>
            </a:r>
            <a:endParaRPr b="0" lang="pt-BR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5037480" y="255960"/>
            <a:ext cx="19033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1. O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731520" y="502920"/>
            <a:ext cx="10789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O Cenário da Disputa: Quem Busca Representar o Nordeste em Brasília?</a:t>
            </a:r>
            <a:endParaRPr b="0" lang="pt-BR" sz="2100" spc="-1" strike="noStrike">
              <a:latin typeface="Arial"/>
            </a:endParaRPr>
          </a:p>
        </p:txBody>
      </p:sp>
      <p:pic>
        <p:nvPicPr>
          <p:cNvPr id="51" name="Picture 6" descr="slide1_01_candidatos_por_uf.png"/>
          <p:cNvPicPr/>
          <p:nvPr/>
        </p:nvPicPr>
        <p:blipFill>
          <a:blip r:embed="rId1"/>
          <a:stretch/>
        </p:blipFill>
        <p:spPr>
          <a:xfrm>
            <a:off x="6217920" y="1280160"/>
            <a:ext cx="5211720" cy="2572200"/>
          </a:xfrm>
          <a:prstGeom prst="rect">
            <a:avLst/>
          </a:prstGeom>
          <a:ln w="0">
            <a:noFill/>
          </a:ln>
        </p:spPr>
      </p:pic>
      <p:sp>
        <p:nvSpPr>
          <p:cNvPr id="52" name="Rounded Rectangle 5"/>
          <p:cNvSpPr/>
          <p:nvPr/>
        </p:nvSpPr>
        <p:spPr>
          <a:xfrm>
            <a:off x="731520" y="1280160"/>
            <a:ext cx="52117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320040" bIns="45000" anchor="ctr">
            <a:no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Pergunta Central de Negócio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Em uma disputa pelas vagas de Deputado Federal, os concorrentes partem de condições de disputa homogêneas ou existem abismos estruturais de recursos pré-determinando a viabilidade eleitoral?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População sob Observação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 universo completo de 2.189 candidatos distribuídos pelos 9 estados do Nordeste — uma região marcada por grande densidade populacional e fortes clivagens socioeconômicas.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Integração Tridimensional dos Dados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Cruzamos três dimensões da vida pública registradas no TSE: quem o candidato é (perfil cadastral), quanto ele possui acumulado (declaração de bens) e quanta energia financeira ele colocou em movimento (prestação de contas).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Abordagem por Descoberta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Como o TSE não rotula candidatos por categorias, utilizamos Aprendizado Não Supervisionado para que os padrões latentes emergissem diretamente da geometria das variáveis.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3"/>
          <p:cNvSpPr/>
          <p:nvPr/>
        </p:nvSpPr>
        <p:spPr>
          <a:xfrm>
            <a:off x="4776120" y="255960"/>
            <a:ext cx="24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3. A DESCOBERTA DOS GRUPOS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56" name="TextBox 4"/>
          <p:cNvSpPr/>
          <p:nvPr/>
        </p:nvSpPr>
        <p:spPr>
          <a:xfrm>
            <a:off x="731520" y="502920"/>
            <a:ext cx="10789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A Divisão Natural: A Geometria dos Dados Aponta com Clareza para 4 Perfis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57" name="Rounded Rectangle 5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320040" bIns="45000" anchor="ctr">
            <a:no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Caminho Divisivo (Bisecting K-Means)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Em vez de forçar cortes simultâneos, partimos de todos os 2.189 candidatos em um único bloco e bissectamos sucessivamente os grupos mais dispersos até encontrar o equilíbrio geométrico.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Consenso das Métricas em K=4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Avaliamos de 2 a 8 grupos. K=4 atinge o pico global de Silhueta (0,488) e o mínimo de Davies-Bouldin (0,844), além de uma inflexão nítida no método do cotovelo.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Uma Verdade Intrínseca dos Dados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Dois algoritmos com filosofias totalmente distintas — K-Means tradicional e Bisecting K-Means — convergiram exatamente para os mesmos grupos (diferença de apenas 2 candidatos em grupos de mais de mil!).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Lógica Revelada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 política não se divide apenas em 'ricos e pobres'. A dinâmica real nasce do cruzamento entre capital próprio e capital de campanha em movimento.</a:t>
            </a:r>
            <a:endParaRPr b="0" lang="pt-BR" sz="1100" spc="-1" strike="noStrike">
              <a:latin typeface="Arial"/>
            </a:endParaRPr>
          </a:p>
        </p:txBody>
      </p:sp>
      <p:pic>
        <p:nvPicPr>
          <p:cNvPr id="58" name="Picture 6" descr="slide3_01_cotovelo_silhouette_db_ch.png"/>
          <p:cNvPicPr/>
          <p:nvPr/>
        </p:nvPicPr>
        <p:blipFill>
          <a:blip r:embed="rId1"/>
          <a:stretch/>
        </p:blipFill>
        <p:spPr>
          <a:xfrm>
            <a:off x="6126480" y="1280160"/>
            <a:ext cx="5303160" cy="365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3"/>
          <p:cNvSpPr/>
          <p:nvPr/>
        </p:nvSpPr>
        <p:spPr>
          <a:xfrm>
            <a:off x="4986360" y="255960"/>
            <a:ext cx="2005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4. OS PERFIS REVELADOS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31520" y="502920"/>
            <a:ext cx="10789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Os 4 Arquétipos Eleitorais: Da Máquina Pesada ao Impacto Real das Cotas Femininas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274320" bIns="45000" anchor="ctr">
            <a:noAutofit/>
          </a:bodyPr>
          <a:p>
            <a:pPr algn="ctr"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Estruturados (52,7% da base | 1.153 cand.)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 máquina eleitoral competitiva: mediana de R$ 400k em bens e R$ 159k em gastos. Reúne 100% dos Deputados Federais em exercício que tentam reeleição, além de médicos e empresários (72% homens).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Financiados (21,0% da base | 460 cand.)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 achado social mais marcante da análise: ÚNICO grupo com MAIORIA FEMININA (51,5%)! Candidatas sem bens acumulados que ganharam viabilidade graças às cotas públicas de repasse do Fundo Eleitoral.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Base Simbólica (15,0% da base | 328 cand.)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Candidaturas cartoriais de nominata: bens zero e gastos zero. Formada por estudantes (18,4%), agricultores e pequenos comerciantes (72% negros/pardos). Zero mandatos prévios.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Patrimônio Sem Campanha (11,3% | 248 cand.)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 enigma da eleição: candidatos abastados (mediana de R$ 140k em bens) que não gastaram nada em campanha. Mais da metade (52,3%) são Advogados ou Empresários com média de 55 anos.</a:t>
            </a:r>
            <a:endParaRPr b="0" lang="pt-BR" sz="1100" spc="-1" strike="noStrike">
              <a:latin typeface="Arial"/>
            </a:endParaRPr>
          </a:p>
        </p:txBody>
      </p:sp>
      <p:pic>
        <p:nvPicPr>
          <p:cNvPr id="64" name="Picture 6" descr="slide4_01_radar_polar_2x2.png"/>
          <p:cNvPicPr/>
          <p:nvPr/>
        </p:nvPicPr>
        <p:blipFill>
          <a:blip r:embed="rId1"/>
          <a:stretch/>
        </p:blipFill>
        <p:spPr>
          <a:xfrm>
            <a:off x="6217920" y="1280160"/>
            <a:ext cx="5211720" cy="495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3"/>
          <p:cNvSpPr/>
          <p:nvPr/>
        </p:nvSpPr>
        <p:spPr>
          <a:xfrm>
            <a:off x="4786920" y="255960"/>
            <a:ext cx="2404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5. A CONFIRMAÇÃO DOS FATOS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502920"/>
            <a:ext cx="10789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A Certeza dos Padrões: 100% de Confiança na Previsão dos 4 Arquétipos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320040" bIns="45000" anchor="ctr">
            <a:no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Previsibilidade Absoluta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Ao minerar regras de associação cruzando as variáveis contínuas em quartis, o algoritmo Apriori alcançou 100% de confiança para prever o perfil do candidato a partir de seus atributos.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Casamento entre Bens e Despesas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Sem Bens + Sem Despesa ➔ 100% Base Simbólica (Lift 6,67)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Bens Médios/Altos + Sem Despesa ➔ 100% Patr. Sem Campanha (Lift 8,83 — o maior da base!)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Bens Altos + Despesa Alta ➔ 100% Estruturados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DNA de Cada Grupo Revelado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 direção inversa revela a identidade natural de cada arquétipo: Estruturados atrai mandatos parlamentares; Financiados atrai o gênero feminino; e a Base Simbólica concentra legendas menores como a DC.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Validação Definitiva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Os 4 nomes dados aos clusters não são rótulos subjetivos: representam assinaturas estatísticas sólidas e matematicamente comprovadas.</a:t>
            </a:r>
            <a:endParaRPr b="0" lang="pt-BR" sz="1100" spc="-1" strike="noStrike">
              <a:latin typeface="Arial"/>
            </a:endParaRPr>
          </a:p>
        </p:txBody>
      </p:sp>
      <p:pic>
        <p:nvPicPr>
          <p:cNvPr id="70" name="Picture 6" descr="slide5_painel_regras_apriori.png"/>
          <p:cNvPicPr/>
          <p:nvPr/>
        </p:nvPicPr>
        <p:blipFill>
          <a:blip r:embed="rId1"/>
          <a:stretch/>
        </p:blipFill>
        <p:spPr>
          <a:xfrm>
            <a:off x="6217920" y="1280160"/>
            <a:ext cx="5211720" cy="477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3"/>
          <p:cNvSpPr/>
          <p:nvPr/>
        </p:nvSpPr>
        <p:spPr>
          <a:xfrm>
            <a:off x="4934520" y="255960"/>
            <a:ext cx="2108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6. AS EXCEÇÕES DA REGRA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502920"/>
            <a:ext cx="10789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Os Casos Fora da Curva: Quem Desafia a Lógica Comum do Jogo Eleitoral?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320040" bIns="45000" anchor="ctr">
            <a:no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Mecanismo do Isolation Forest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O modelo isola anomalias por cortes aleatórios sucessivos no espaço multidimensional: pontos fáceis de isolar são discrepâncias graves; pontos cercados de vizinhos são a norma.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Os Casos Notórios Globais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Nathalia Pedrosa (PE): 25 anos, patrimônio recorde de R$ 48,3 milhões e R$ 0 gastos em campanha — a herdeira milionária sem campanha.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Tiririca (CE): 1 ano de instrução formal operando uma máquina de R$ 2,45 milhões em campanha.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A 4ª Dimensão Oculta no Gráfico 3D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Por que alguns atípicos parecem 'no meio' da nuvem 3D? Porque sua anomalia é educacional! No espaço visual 3D (Idade, Bens, Despesas) são comuns, mas na 4ª dimensão (Escolaridade) estão totalmente isolados.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37 Anomalias Invisíveis na Base Geral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Ao rodar o modelo dentro de cada grupo, descobrimos 37 candidatos que parecem normais para o Nordeste inteiro, mas que quebram radicalmente o padrão de seus pares.</a:t>
            </a:r>
            <a:endParaRPr b="0" lang="pt-BR" sz="1100" spc="-1" strike="noStrike">
              <a:latin typeface="Arial"/>
            </a:endParaRPr>
          </a:p>
        </p:txBody>
      </p:sp>
      <p:pic>
        <p:nvPicPr>
          <p:cNvPr id="76" name="Picture 6" descr="slide6_anomalias_2d_destaque.png"/>
          <p:cNvPicPr/>
          <p:nvPr/>
        </p:nvPicPr>
        <p:blipFill>
          <a:blip r:embed="rId1"/>
          <a:stretch/>
        </p:blipFill>
        <p:spPr>
          <a:xfrm>
            <a:off x="6217920" y="1280160"/>
            <a:ext cx="5211720" cy="425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3"/>
          <p:cNvSpPr/>
          <p:nvPr/>
        </p:nvSpPr>
        <p:spPr>
          <a:xfrm>
            <a:off x="5102280" y="255960"/>
            <a:ext cx="1773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7. SÍNTESE E IMPACTO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731520" y="502920"/>
            <a:ext cx="10789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142a4a"/>
                </a:solidFill>
                <a:latin typeface="Calibri"/>
              </a:rPr>
              <a:t>O Que os Dados Ensinam: As Lições Estruturais da Eleição Nordestina</a:t>
            </a:r>
            <a:endParaRPr b="0" lang="pt-BR" sz="2100" spc="-1" strike="noStrike">
              <a:latin typeface="Arial"/>
            </a:endParaRPr>
          </a:p>
        </p:txBody>
      </p:sp>
      <p:sp>
        <p:nvSpPr>
          <p:cNvPr id="81" name="Rounded Rectangle 5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320040" tIns="320040" bIns="45000" anchor="ctr">
            <a:noAutofit/>
          </a:bodyPr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Que Confirmou Expectativas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 política de alta densidade no Nordeste continua sendo dominada por uma elite estabelecida (os Estruturados: mandatários, médicos e advogados com alto patrimônio e altas despesas). Além disso, confirmou-se que centenas de candidaturas existem unicamente no papel para fins burocráticos (a Base Simbólica).</a:t>
            </a:r>
            <a:endParaRPr b="0" lang="pt-B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⚡ </a:t>
            </a:r>
            <a:r>
              <a:rPr b="1" lang="en-US" sz="1300" spc="-1" strike="noStrike">
                <a:solidFill>
                  <a:srgbClr val="142a4a"/>
                </a:solidFill>
                <a:latin typeface="Calibri"/>
              </a:rPr>
              <a:t>O Que os Dados Trouxeram de Novo</a:t>
            </a:r>
            <a:br>
              <a:rPr sz="1300"/>
            </a:b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O impacto real das cotas: As mulheres não estão na base simbólica, mas sim nos Financiados (51,5%), movimentando recursos públicos sem necessidade de capital próprio.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 elite inativa: 11% dos candidatos têm patrimônio substancial, mas optam por não investir um centavo na disputa.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82" name="Rounded Rectangle 6"/>
          <p:cNvSpPr/>
          <p:nvPr/>
        </p:nvSpPr>
        <p:spPr>
          <a:xfrm>
            <a:off x="6217920" y="1280160"/>
            <a:ext cx="5211720" cy="5028840"/>
          </a:xfrm>
          <a:prstGeom prst="roundRect">
            <a:avLst>
              <a:gd name="adj" fmla="val 16667"/>
            </a:avLst>
          </a:prstGeom>
          <a:solidFill>
            <a:srgbClr val="14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365760" tIns="365760" bIns="45000" anchor="ctr">
            <a:noAutofit/>
          </a:bodyPr>
          <a:p>
            <a:pPr algn="ctr">
              <a:lnSpc>
                <a:spcPct val="100000"/>
              </a:lnSpc>
              <a:spcAft>
                <a:spcPts val="1599"/>
              </a:spcAft>
              <a:buNone/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</a:rPr>
              <a:t>A CONTRIBUIÇÃO CENTRAL DO ESTUDO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1. Superação da Visão Simplista</a:t>
            </a:r>
            <a:br>
              <a:rPr sz="1250"/>
            </a:b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 disputa eleitoral para Deputado Federal não é um bloco único nem uma simples oposição entre ricos e pobres: ela opera através de 4 engrenagens políticas distintas.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2. A Ciência de Dados a Serviço da Transparência</a:t>
            </a:r>
            <a:br>
              <a:rPr sz="1250"/>
            </a:b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 combinação de clusterização hierárquica, regras de associação determinísticas e detecção de anomalias permitiu mapear os papéis funcionais e o uso dos recursos públicos.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00"/>
              </a:spcAft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3. Evidência Empírica para Políticas Públicas</a:t>
            </a:r>
            <a:br>
              <a:rPr sz="1250"/>
            </a:b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O estudo prova empiricamente que as políticas de cota e financiamento público transformam diretamente o perfil dos atores que entram na arena da disputa democrática.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2"/>
          <p:cNvSpPr/>
          <p:nvPr/>
        </p:nvSpPr>
        <p:spPr>
          <a:xfrm>
            <a:off x="0" y="0"/>
            <a:ext cx="12191400" cy="136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3"/>
          <p:cNvSpPr/>
          <p:nvPr/>
        </p:nvSpPr>
        <p:spPr>
          <a:xfrm>
            <a:off x="2413080" y="2668320"/>
            <a:ext cx="7334640" cy="14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Obrigado pela Atenção!</a:t>
            </a:r>
            <a:endParaRPr b="0" lang="pt-BR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d97706"/>
                </a:solidFill>
                <a:latin typeface="Calibri"/>
              </a:rPr>
              <a:t>Mineração de Dados Eleitorais • Grupo 4 (Nordeste 2026)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br>
              <a:rPr sz="1500"/>
            </a:br>
            <a:r>
              <a:rPr b="0" lang="en-US" sz="1500" spc="-1" strike="noStrike">
                <a:solidFill>
                  <a:srgbClr val="cbd5e1"/>
                </a:solidFill>
                <a:latin typeface="Calibri"/>
              </a:rPr>
              <a:t>Estamos à disposição da banca examinadora para perguntas e discussões.</a:t>
            </a:r>
            <a:endParaRPr b="0" lang="pt-B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2026-09-27T17:56:57Z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